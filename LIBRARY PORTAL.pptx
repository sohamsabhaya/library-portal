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69" r:id="rId4"/>
    <p:sldId id="270" r:id="rId5"/>
    <p:sldId id="271" r:id="rId6"/>
    <p:sldId id="264" r:id="rId7"/>
    <p:sldId id="272" r:id="rId8"/>
    <p:sldId id="266" r:id="rId9"/>
    <p:sldId id="267" r:id="rId10"/>
    <p:sldId id="268" r:id="rId11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C9CEAC-2FCF-43ED-98AC-A41453716B35}">
          <p14:sldIdLst>
            <p14:sldId id="257"/>
            <p14:sldId id="258"/>
            <p14:sldId id="269"/>
            <p14:sldId id="270"/>
            <p14:sldId id="271"/>
            <p14:sldId id="264"/>
            <p14:sldId id="272"/>
            <p14:sldId id="266"/>
            <p14:sldId id="267"/>
            <p14:sldId id="268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82424" autoAdjust="0"/>
  </p:normalViewPr>
  <p:slideViewPr>
    <p:cSldViewPr snapToGrid="0">
      <p:cViewPr>
        <p:scale>
          <a:sx n="70" d="100"/>
          <a:sy n="70" d="100"/>
        </p:scale>
        <p:origin x="-508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BCAFC7A-71DD-4C2C-B63D-60FDC7DD5449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A6FC261-E491-4C42-A663-B95247CC46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85ECAFD-F005-4163-B10D-85806DC43F93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33E963C-1534-4F8D-B2A7-66D81AA259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01-Sep-24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pPr/>
              <a:t>01-Sep-24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/>
          <p:nvPr userDrawn="1"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 bwMode="blackWhite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467944" y="3674533"/>
            <a:ext cx="3950090" cy="2683539"/>
          </a:xfrm>
        </p:spPr>
        <p:txBody>
          <a:bodyPr anchor="ctr">
            <a:noAutofit/>
          </a:bodyPr>
          <a:lstStyle/>
          <a:p>
            <a:pPr algn="l"/>
            <a:r>
              <a:rPr lang="en-US" sz="2800" b="1" dirty="0" smtClean="0">
                <a:solidFill>
                  <a:schemeClr val="tx1"/>
                </a:solidFill>
                <a:latin typeface="Bahnschrift Condensed" pitchFamily="34" charset="0"/>
              </a:rPr>
              <a:t>Prepared By: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  <a:latin typeface="Bahnschrift Condensed" pitchFamily="34" charset="0"/>
              </a:rPr>
              <a:t>Name :- </a:t>
            </a:r>
            <a:r>
              <a:rPr lang="en-US" sz="2400" dirty="0" err="1" smtClean="0">
                <a:solidFill>
                  <a:schemeClr val="tx1"/>
                </a:solidFill>
                <a:latin typeface="Bahnschrift Condensed" pitchFamily="34" charset="0"/>
              </a:rPr>
              <a:t>Soham</a:t>
            </a:r>
            <a:r>
              <a:rPr lang="en-US" sz="2400" dirty="0">
                <a:solidFill>
                  <a:schemeClr val="tx1"/>
                </a:solidFill>
                <a:latin typeface="Bahnschrift Condensed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Bahnschrift Condensed" pitchFamily="34" charset="0"/>
              </a:rPr>
              <a:t>Sabhaya</a:t>
            </a:r>
            <a:endParaRPr lang="en-US" sz="2400" dirty="0" smtClean="0">
              <a:solidFill>
                <a:schemeClr val="tx1"/>
              </a:solidFill>
              <a:latin typeface="Bahnschrift Condensed" pitchFamily="34" charset="0"/>
            </a:endParaRPr>
          </a:p>
          <a:p>
            <a:pPr algn="l"/>
            <a:r>
              <a:rPr lang="en-US" sz="2400" cap="none" dirty="0" smtClean="0">
                <a:solidFill>
                  <a:schemeClr val="tx1"/>
                </a:solidFill>
                <a:latin typeface="Bahnschrift Condensed" pitchFamily="34" charset="0"/>
              </a:rPr>
              <a:t>Roll no :- 309</a:t>
            </a:r>
          </a:p>
          <a:p>
            <a:pPr algn="l"/>
            <a:r>
              <a:rPr lang="en-US" sz="2400" cap="none" dirty="0" smtClean="0">
                <a:solidFill>
                  <a:schemeClr val="tx1"/>
                </a:solidFill>
                <a:latin typeface="Bahnschrift Condensed" pitchFamily="34" charset="0"/>
              </a:rPr>
              <a:t>Enroll No :- 23002171310163</a:t>
            </a:r>
          </a:p>
          <a:p>
            <a:pPr algn="l"/>
            <a:r>
              <a:rPr lang="en-US" sz="2400" cap="none" dirty="0" smtClean="0">
                <a:solidFill>
                  <a:schemeClr val="tx1"/>
                </a:solidFill>
                <a:latin typeface="Bahnschrift Condensed" pitchFamily="34" charset="0"/>
              </a:rPr>
              <a:t>Division :- </a:t>
            </a:r>
            <a:r>
              <a:rPr lang="en-US" sz="2400" dirty="0">
                <a:solidFill>
                  <a:schemeClr val="tx1"/>
                </a:solidFill>
                <a:latin typeface="Bahnschrift Condensed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Bahnschrift Condensed" pitchFamily="34" charset="0"/>
              </a:rPr>
              <a:t>B11</a:t>
            </a:r>
            <a:endParaRPr lang="en-US" sz="2400" cap="none" dirty="0">
              <a:solidFill>
                <a:schemeClr val="tx1"/>
              </a:solidFill>
              <a:latin typeface="Bahnschrift Condensed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51643" y="1287536"/>
            <a:ext cx="9511468" cy="2124531"/>
          </a:xfrm>
        </p:spPr>
        <p:txBody>
          <a:bodyPr anchor="ctr" anchorCtr="1">
            <a:normAutofit/>
          </a:bodyPr>
          <a:lstStyle/>
          <a:p>
            <a:r>
              <a:rPr lang="en-US" altLang="zh-CN" sz="4400" b="1" dirty="0">
                <a:solidFill>
                  <a:schemeClr val="tx1"/>
                </a:solidFill>
                <a:latin typeface="Bahnschrift Condensed" pitchFamily="34" charset="0"/>
                <a:ea typeface="Unbounded" pitchFamily="34" charset="0"/>
                <a:cs typeface="Unbounded" pitchFamily="34" charset="0"/>
              </a:rPr>
              <a:t>Library </a:t>
            </a:r>
            <a:r>
              <a:rPr lang="en-US" altLang="zh-CN" sz="4400" b="1" dirty="0" smtClean="0">
                <a:solidFill>
                  <a:schemeClr val="tx1"/>
                </a:solidFill>
                <a:latin typeface="Bahnschrift Condensed" pitchFamily="34" charset="0"/>
                <a:ea typeface="Unbounded" pitchFamily="34" charset="0"/>
                <a:cs typeface="Unbounded" pitchFamily="34" charset="0"/>
              </a:rPr>
              <a:t>Portal</a:t>
            </a:r>
            <a:endParaRPr lang="en-US" sz="4400" dirty="0">
              <a:solidFill>
                <a:schemeClr val="tx1"/>
              </a:solidFill>
              <a:latin typeface="Bahnschrift Condensed" pitchFamily="34" charset="0"/>
            </a:endParaRPr>
          </a:p>
        </p:txBody>
      </p:sp>
      <p:sp>
        <p:nvSpPr>
          <p:cNvPr id="4" name="Subtitle 5"/>
          <p:cNvSpPr txBox="1">
            <a:spLocks/>
          </p:cNvSpPr>
          <p:nvPr/>
        </p:nvSpPr>
        <p:spPr>
          <a:xfrm>
            <a:off x="1056742" y="4169204"/>
            <a:ext cx="2066809" cy="4868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/>
              <a:t>-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451" y="580519"/>
            <a:ext cx="10363200" cy="1143000"/>
          </a:xfrm>
        </p:spPr>
        <p:txBody>
          <a:bodyPr anchor="ctr"/>
          <a:lstStyle/>
          <a:p>
            <a:r>
              <a:rPr lang="en-US" dirty="0" smtClean="0"/>
              <a:t>Project Outline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anchor="ctr">
            <a:normAutofit/>
          </a:bodyPr>
          <a:lstStyle/>
          <a:p>
            <a:r>
              <a:rPr lang="en-US" dirty="0" smtClean="0"/>
              <a:t>Purpose of the project</a:t>
            </a:r>
          </a:p>
          <a:p>
            <a:r>
              <a:rPr lang="en-US" dirty="0" smtClean="0"/>
              <a:t>Class</a:t>
            </a:r>
            <a:r>
              <a:rPr lang="en-US" dirty="0" smtClean="0"/>
              <a:t> Diagram</a:t>
            </a:r>
          </a:p>
          <a:p>
            <a:r>
              <a:rPr lang="en-US" dirty="0" smtClean="0"/>
              <a:t>Use case Diagram</a:t>
            </a:r>
            <a:endParaRPr lang="en-US" dirty="0" smtClean="0"/>
          </a:p>
          <a:p>
            <a:r>
              <a:rPr lang="en-US" dirty="0" smtClean="0"/>
              <a:t>Functionalities</a:t>
            </a:r>
          </a:p>
          <a:p>
            <a:r>
              <a:rPr lang="en-US" dirty="0" smtClean="0"/>
              <a:t>Used </a:t>
            </a:r>
            <a:r>
              <a:rPr lang="en-US" dirty="0"/>
              <a:t>D</a:t>
            </a:r>
            <a:r>
              <a:rPr lang="en-US" dirty="0" smtClean="0"/>
              <a:t>ata Structures and class</a:t>
            </a:r>
          </a:p>
          <a:p>
            <a:r>
              <a:rPr lang="en-US" dirty="0" smtClean="0"/>
              <a:t>Tools used</a:t>
            </a:r>
          </a:p>
          <a:p>
            <a:r>
              <a:rPr lang="en-US" dirty="0" smtClean="0"/>
              <a:t>Merits &amp; Demerits</a:t>
            </a:r>
          </a:p>
          <a:p>
            <a:r>
              <a:rPr lang="en-US" dirty="0" smtClean="0"/>
              <a:t>Future 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0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Purpose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The Library Management System (LMS) is a </a:t>
            </a:r>
            <a:r>
              <a:rPr lang="en-US" sz="2000" dirty="0" smtClean="0"/>
              <a:t>Java and SQL based </a:t>
            </a:r>
            <a:r>
              <a:rPr lang="en-US" sz="2000" dirty="0"/>
              <a:t>application designed to facilitate the management of library operations. It provides functionalities for both librarians and users, allowing them to efficiently manage books </a:t>
            </a:r>
            <a:r>
              <a:rPr lang="en-US" sz="2000" dirty="0" smtClean="0"/>
              <a:t>and </a:t>
            </a:r>
            <a:r>
              <a:rPr lang="en-US" sz="2000" dirty="0"/>
              <a:t>user accounts</a:t>
            </a:r>
            <a:r>
              <a:rPr lang="en-US" sz="24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Efficient Resource Management: Streamlines the organization and tracking of library resources, ensuring that books are easily accessible and accounted for</a:t>
            </a:r>
            <a:r>
              <a:rPr lang="en-US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User </a:t>
            </a:r>
            <a:r>
              <a:rPr lang="en-US" sz="2000" dirty="0"/>
              <a:t>Convenience: Enhances user experience by providing a simple interface for searching, borrowing, and returning books, making it easier for users to find what they need</a:t>
            </a:r>
            <a:r>
              <a:rPr lang="en-US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Administrative </a:t>
            </a:r>
            <a:r>
              <a:rPr lang="en-US" sz="2000" dirty="0"/>
              <a:t>Control: Empowers librarians with tools to manage user accounts and library inventory effectively, allowing for better oversight and control of library </a:t>
            </a:r>
            <a:r>
              <a:rPr lang="en-US" sz="2000" dirty="0" err="1"/>
              <a:t>operations.Data</a:t>
            </a:r>
            <a:r>
              <a:rPr lang="en-US" sz="2000" dirty="0"/>
              <a:t> Integrity: Ensures accurate record-keeping of book availability and user transactions, reducing errors and improving the reliability of library data</a:t>
            </a:r>
            <a:r>
              <a:rPr lang="en-US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Enhanced </a:t>
            </a:r>
            <a:r>
              <a:rPr lang="en-US" sz="2000" dirty="0"/>
              <a:t>Security: Protects sensitive user information through secure login processes and controlled access to library resources</a:t>
            </a:r>
            <a:r>
              <a:rPr lang="en-US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Scalability</a:t>
            </a:r>
            <a:r>
              <a:rPr lang="en-US" sz="2000" dirty="0"/>
              <a:t>: Provides a foundation for future enhancements, such as integrating additional features like online reservations, fines management, and digital collections.</a:t>
            </a:r>
            <a:endParaRPr lang="en-US" sz="2000" dirty="0" smtClean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1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  <p:pic>
        <p:nvPicPr>
          <p:cNvPr id="1027" name="Picture 3" descr="C:\Users\vip\Pictures\Screenshots\Screenshot 2024-09-01 12273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0" y="1456267"/>
            <a:ext cx="6526213" cy="478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1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Use Case Diagram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  <p:pic>
        <p:nvPicPr>
          <p:cNvPr id="2050" name="Picture 2" descr="C:\Users\vip\Pictures\Screenshots\Screenshot 2024-09-01 113003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540932"/>
            <a:ext cx="6282267" cy="447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1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43466"/>
            <a:ext cx="10363200" cy="939799"/>
          </a:xfrm>
        </p:spPr>
        <p:txBody>
          <a:bodyPr anchor="ctr" anchorCtr="1"/>
          <a:lstStyle/>
          <a:p>
            <a:r>
              <a:rPr lang="en-US" altLang="zh-CN" sz="4400" b="1" dirty="0">
                <a:solidFill>
                  <a:schemeClr val="tx1"/>
                </a:solidFill>
                <a:ea typeface="Unbounded" pitchFamily="34" charset="0"/>
                <a:cs typeface="Unbounded" pitchFamily="34" charset="0"/>
              </a:rPr>
              <a:t>Data Structures and </a:t>
            </a:r>
            <a:r>
              <a:rPr lang="en-US" altLang="zh-CN" sz="4400" b="1" dirty="0" smtClean="0">
                <a:solidFill>
                  <a:schemeClr val="tx1"/>
                </a:solidFill>
                <a:ea typeface="Unbounded" pitchFamily="34" charset="0"/>
                <a:cs typeface="Unbounded" pitchFamily="34" charset="0"/>
              </a:rPr>
              <a:t>Classes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064000" cy="762000"/>
          </a:xfrm>
        </p:spPr>
        <p:txBody>
          <a:bodyPr anchor="ctr" anchorCtr="1"/>
          <a:lstStyle/>
          <a:p>
            <a:r>
              <a:rPr lang="en-US" altLang="zh-CN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 Condensed" pitchFamily="34" charset="0"/>
                <a:ea typeface="Open Sans" pitchFamily="34" charset="0"/>
                <a:cs typeface="Open Sans" pitchFamily="34" charset="0"/>
              </a:rPr>
              <a:t>Data </a:t>
            </a:r>
            <a:r>
              <a:rPr lang="en-US" altLang="zh-CN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 Condensed" pitchFamily="34" charset="0"/>
                <a:ea typeface="Open Sans" pitchFamily="34" charset="0"/>
                <a:cs typeface="Open Sans" pitchFamily="34" charset="0"/>
              </a:rPr>
              <a:t>Structure</a:t>
            </a:r>
            <a:endParaRPr lang="zh-CN" altLang="en-US" dirty="0">
              <a:solidFill>
                <a:schemeClr val="accent6">
                  <a:lumMod val="40000"/>
                  <a:lumOff val="60000"/>
                </a:schemeClr>
              </a:solidFill>
              <a:latin typeface="Bahnschrift Condensed" pitchFamily="34" charset="0"/>
              <a:ea typeface="等线" charset="0"/>
              <a:cs typeface="Calibri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554133" y="1447800"/>
            <a:ext cx="6028267" cy="762000"/>
          </a:xfrm>
        </p:spPr>
        <p:txBody>
          <a:bodyPr anchor="ctr" anchorCtr="1"/>
          <a:lstStyle/>
          <a:p>
            <a:r>
              <a:rPr lang="en-US" altLang="zh-CN" dirty="0" smtClean="0">
                <a:solidFill>
                  <a:schemeClr val="accent6">
                    <a:lumMod val="40000"/>
                    <a:lumOff val="60000"/>
                  </a:schemeClr>
                </a:solidFill>
                <a:ea typeface="Open Sans" pitchFamily="34" charset="0"/>
                <a:cs typeface="Open Sans" pitchFamily="34" charset="0"/>
              </a:rPr>
              <a:t>Purpose</a:t>
            </a:r>
            <a:endParaRPr lang="zh-CN" altLang="en-US" dirty="0">
              <a:solidFill>
                <a:schemeClr val="accent6">
                  <a:lumMod val="40000"/>
                  <a:lumOff val="60000"/>
                </a:schemeClr>
              </a:solidFill>
              <a:ea typeface="等线" charset="0"/>
              <a:cs typeface="Calibri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267200" cy="3886200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Queue</a:t>
            </a:r>
            <a:endParaRPr lang="zh-CN" altLang="en-US" sz="2000" dirty="0">
              <a:latin typeface="+mj-lt"/>
              <a:ea typeface="等线" charset="0"/>
              <a:cs typeface="Calibri" charset="0"/>
            </a:endParaRPr>
          </a:p>
          <a:p>
            <a:endParaRPr lang="en-US" sz="2000" dirty="0" smtClean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endParaRPr lang="en-US" sz="2000" dirty="0" smtClean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Open Sans" pitchFamily="34" charset="0"/>
                <a:cs typeface="Open Sans" pitchFamily="34" charset="0"/>
              </a:rPr>
              <a:t>Classes</a:t>
            </a:r>
            <a:endParaRPr lang="zh-CN" altLang="en-US" sz="2000" dirty="0">
              <a:latin typeface="+mj-lt"/>
              <a:ea typeface="等线" charset="0"/>
              <a:cs typeface="Calibri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4"/>
          </p:nvPr>
        </p:nvSpPr>
        <p:spPr>
          <a:xfrm>
            <a:off x="5410200" y="2247900"/>
            <a:ext cx="6172200" cy="3886200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latin typeface="Bahnschrift Condensed" pitchFamily="34" charset="0"/>
              </a:rPr>
              <a:t>Maintaining Availability: The queue ensures that only available books (quantity &gt; 0) are included. When a book is borrowed (</a:t>
            </a:r>
            <a:r>
              <a:rPr lang="en-US" sz="1900" dirty="0" err="1">
                <a:latin typeface="Bahnschrift Condensed" pitchFamily="34" charset="0"/>
              </a:rPr>
              <a:t>borrowBook</a:t>
            </a:r>
            <a:r>
              <a:rPr lang="en-US" sz="1900" dirty="0">
                <a:latin typeface="Bahnschrift Condensed" pitchFamily="34" charset="0"/>
              </a:rPr>
              <a:t>), its quantity is decremented, and it might be removed from the available books queue if it becomes unavailable (quantity reaches 0). </a:t>
            </a:r>
            <a:endParaRPr lang="en-US" sz="1900" dirty="0" smtClean="0">
              <a:latin typeface="Bahnschrift Condensed" pitchFamily="34" charset="0"/>
            </a:endParaRPr>
          </a:p>
          <a:p>
            <a:pPr algn="just"/>
            <a:r>
              <a:rPr lang="en-US" sz="1900" dirty="0" smtClean="0">
                <a:latin typeface="Bahnschrift Condensed" pitchFamily="34" charset="0"/>
              </a:rPr>
              <a:t> </a:t>
            </a:r>
            <a:r>
              <a:rPr lang="en-US" sz="1900" dirty="0">
                <a:latin typeface="Bahnschrift Condensed" pitchFamily="34" charset="0"/>
              </a:rPr>
              <a:t>Efficiency: The queue provides efficient access to available books using FIFO (First-In-First-Out) principle. The first book added (</a:t>
            </a:r>
            <a:r>
              <a:rPr lang="en-US" sz="1900" dirty="0" err="1">
                <a:latin typeface="Bahnschrift Condensed" pitchFamily="34" charset="0"/>
              </a:rPr>
              <a:t>enqueued</a:t>
            </a:r>
            <a:r>
              <a:rPr lang="en-US" sz="1900" dirty="0">
                <a:latin typeface="Bahnschrift Condensed" pitchFamily="34" charset="0"/>
              </a:rPr>
              <a:t>) is the first one to be borrowed (</a:t>
            </a:r>
            <a:r>
              <a:rPr lang="en-US" sz="1900" dirty="0" err="1">
                <a:latin typeface="Bahnschrift Condensed" pitchFamily="34" charset="0"/>
              </a:rPr>
              <a:t>dequeued</a:t>
            </a:r>
            <a:r>
              <a:rPr lang="en-US" sz="1900" dirty="0">
                <a:latin typeface="Bahnschrift Condensed" pitchFamily="34" charset="0"/>
              </a:rPr>
              <a:t>). This can be helpful for managing book lending and ensuring fairness among users</a:t>
            </a:r>
            <a:r>
              <a:rPr lang="en-US" sz="1900" dirty="0" smtClean="0">
                <a:latin typeface="Bahnschrift Condensed" pitchFamily="34" charset="0"/>
              </a:rPr>
              <a:t>. In </a:t>
            </a:r>
            <a:r>
              <a:rPr lang="en-US" sz="1900" dirty="0">
                <a:latin typeface="Bahnschrift Condensed" pitchFamily="34" charset="0"/>
              </a:rPr>
              <a:t>essence, the queue acts as a dynamic list that keeps track of books that are currently available for borrowing in the library</a:t>
            </a:r>
            <a:endParaRPr lang="en-US" sz="1900" dirty="0" smtClean="0">
              <a:latin typeface="Bahnschrift Condensed" pitchFamily="34" charset="0"/>
            </a:endParaRPr>
          </a:p>
          <a:p>
            <a:pPr algn="just"/>
            <a:r>
              <a:rPr lang="en-US" altLang="zh-CN" sz="1900" dirty="0">
                <a:latin typeface="Bahnschrift Condensed" pitchFamily="34" charset="0"/>
                <a:ea typeface="Open Sans" pitchFamily="34" charset="0"/>
                <a:cs typeface="Open Sans" pitchFamily="34" charset="0"/>
              </a:rPr>
              <a:t>Represent different entities in the library system, encapsulating their attributes and </a:t>
            </a:r>
            <a:r>
              <a:rPr lang="en-US" altLang="zh-CN" sz="1900" dirty="0" smtClean="0">
                <a:latin typeface="Bahnschrift Condensed" pitchFamily="34" charset="0"/>
                <a:ea typeface="Open Sans" pitchFamily="34" charset="0"/>
                <a:cs typeface="Open Sans" pitchFamily="34" charset="0"/>
              </a:rPr>
              <a:t>behaviors.</a:t>
            </a:r>
            <a:endParaRPr lang="en-US" sz="1900" dirty="0">
              <a:latin typeface="Bahnschrift Condensed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9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796180"/>
            <a:ext cx="9421814" cy="812487"/>
          </a:xfrm>
        </p:spPr>
        <p:txBody>
          <a:bodyPr anchor="ctr" anchorCtr="1">
            <a:normAutofit/>
          </a:bodyPr>
          <a:lstStyle/>
          <a:p>
            <a:r>
              <a:rPr lang="en-US" altLang="zh-CN" sz="4400" b="1" dirty="0">
                <a:solidFill>
                  <a:schemeClr val="tx1"/>
                </a:solidFill>
                <a:ea typeface="Unbounded" pitchFamily="34" charset="0"/>
                <a:cs typeface="Unbounded" pitchFamily="34" charset="0"/>
              </a:rPr>
              <a:t>Tools </a:t>
            </a:r>
            <a:r>
              <a:rPr lang="en-US" altLang="zh-CN" sz="4400" b="1" dirty="0" smtClean="0">
                <a:solidFill>
                  <a:schemeClr val="tx1"/>
                </a:solidFill>
                <a:ea typeface="Unbounded" pitchFamily="34" charset="0"/>
                <a:cs typeface="Unbounded" pitchFamily="34" charset="0"/>
              </a:rPr>
              <a:t>Used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1371600"/>
            <a:ext cx="945832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6">
                    <a:lumMod val="40000"/>
                    <a:lumOff val="60000"/>
                  </a:schemeClr>
                </a:solidFill>
                <a:ea typeface="Unbounded" pitchFamily="34" charset="0"/>
                <a:cs typeface="Unbounded" pitchFamily="34" charset="0"/>
              </a:rPr>
              <a:t>MySQL</a:t>
            </a:r>
          </a:p>
          <a:p>
            <a:pPr lvl="1" algn="just">
              <a:lnSpc>
                <a:spcPct val="150000"/>
              </a:lnSpc>
            </a:pPr>
            <a:r>
              <a:rPr lang="en-US" altLang="zh-CN" sz="2000" dirty="0">
                <a:ea typeface="Open Sans" pitchFamily="34" charset="0"/>
                <a:cs typeface="Open Sans" pitchFamily="34" charset="0"/>
              </a:rPr>
              <a:t>The relational database management system used to store and manage the library's data, including user information, book </a:t>
            </a:r>
            <a:r>
              <a:rPr lang="en-US" altLang="zh-CN" sz="2000" dirty="0" smtClean="0">
                <a:ea typeface="Open Sans" pitchFamily="34" charset="0"/>
                <a:cs typeface="Open Sans" pitchFamily="34" charset="0"/>
              </a:rPr>
              <a:t>details</a:t>
            </a:r>
            <a:r>
              <a:rPr lang="en-US" altLang="zh-CN" sz="2000" dirty="0">
                <a:ea typeface="Open Sans" pitchFamily="34" charset="0"/>
                <a:cs typeface="Open Sans" pitchFamily="34" charset="0"/>
              </a:rPr>
              <a:t>.</a:t>
            </a:r>
            <a:r>
              <a:rPr lang="en-US" altLang="zh-CN" sz="2000" dirty="0" smtClean="0">
                <a:ea typeface="Open Sans" pitchFamily="34" charset="0"/>
                <a:cs typeface="Open Sans" pitchFamily="34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6">
                    <a:lumMod val="40000"/>
                    <a:lumOff val="60000"/>
                  </a:schemeClr>
                </a:solidFill>
                <a:ea typeface="Unbounded" pitchFamily="34" charset="0"/>
                <a:cs typeface="Unbounded" pitchFamily="34" charset="0"/>
              </a:rPr>
              <a:t>Visual Studio </a:t>
            </a:r>
            <a:r>
              <a:rPr lang="en-US" altLang="zh-CN" sz="2400" b="1" dirty="0" smtClean="0">
                <a:solidFill>
                  <a:schemeClr val="accent6">
                    <a:lumMod val="40000"/>
                    <a:lumOff val="60000"/>
                  </a:schemeClr>
                </a:solidFill>
                <a:ea typeface="Unbounded" pitchFamily="34" charset="0"/>
                <a:cs typeface="Unbounded" pitchFamily="34" charset="0"/>
              </a:rPr>
              <a:t>Code</a:t>
            </a:r>
            <a:endParaRPr lang="en-US" altLang="zh-CN" sz="2400" b="1" dirty="0">
              <a:solidFill>
                <a:schemeClr val="accent6">
                  <a:lumMod val="40000"/>
                  <a:lumOff val="60000"/>
                </a:schemeClr>
              </a:solidFill>
              <a:ea typeface="Unbounded" pitchFamily="34" charset="0"/>
              <a:cs typeface="Unbounded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 smtClean="0">
                <a:ea typeface="Open Sans" pitchFamily="34" charset="0"/>
                <a:cs typeface="Open Sans" pitchFamily="34" charset="0"/>
              </a:rPr>
              <a:t>	</a:t>
            </a:r>
            <a:r>
              <a:rPr lang="en-US" altLang="zh-CN" sz="2000" dirty="0" smtClean="0">
                <a:ea typeface="Open Sans" pitchFamily="34" charset="0"/>
                <a:cs typeface="Open Sans" pitchFamily="34" charset="0"/>
              </a:rPr>
              <a:t>The </a:t>
            </a:r>
            <a:r>
              <a:rPr lang="en-US" altLang="zh-CN" sz="2000" dirty="0">
                <a:ea typeface="Open Sans" pitchFamily="34" charset="0"/>
                <a:cs typeface="Open Sans" pitchFamily="34" charset="0"/>
              </a:rPr>
              <a:t>integrated development environment (IDE) used for writing, editing, and </a:t>
            </a:r>
            <a:r>
              <a:rPr lang="en-US" altLang="zh-CN" sz="2000" dirty="0" smtClean="0">
                <a:ea typeface="Open Sans" pitchFamily="34" charset="0"/>
                <a:cs typeface="Open Sans" pitchFamily="34" charset="0"/>
              </a:rPr>
              <a:t>debugging Java </a:t>
            </a:r>
            <a:r>
              <a:rPr lang="en-US" altLang="zh-CN" sz="2000" dirty="0">
                <a:ea typeface="Open Sans" pitchFamily="34" charset="0"/>
                <a:cs typeface="Open Sans" pitchFamily="34" charset="0"/>
              </a:rPr>
              <a:t>code, providing a streamlined development workflow</a:t>
            </a:r>
            <a:r>
              <a:rPr lang="en-US" altLang="zh-CN" sz="2000" dirty="0" smtClean="0">
                <a:ea typeface="Open Sans" pitchFamily="34" charset="0"/>
                <a:cs typeface="Open Sans" pitchFamily="34" charset="0"/>
              </a:rPr>
              <a:t>.</a:t>
            </a:r>
            <a:endParaRPr lang="zh-CN" altLang="en-US" sz="2000" dirty="0">
              <a:ea typeface="等线" charset="0"/>
              <a:cs typeface="Calibri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0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1"/>
          <a:lstStyle/>
          <a:p>
            <a:r>
              <a:rPr lang="en-US" dirty="0" smtClean="0"/>
              <a:t>Merits &amp; Demerits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 anchorCtr="1"/>
          <a:lstStyle/>
          <a:p>
            <a:r>
              <a:rPr lang="en-US" dirty="0" smtClean="0"/>
              <a:t>Merits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/>
        <p:txBody>
          <a:bodyPr anchor="ctr" anchorCtr="1"/>
          <a:lstStyle/>
          <a:p>
            <a:r>
              <a:rPr lang="en-US" dirty="0" smtClean="0"/>
              <a:t>Demerits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Structured Data </a:t>
            </a:r>
            <a:r>
              <a:rPr lang="en-US" dirty="0" smtClean="0"/>
              <a:t>Management</a:t>
            </a:r>
          </a:p>
          <a:p>
            <a:pPr>
              <a:lnSpc>
                <a:spcPct val="150000"/>
              </a:lnSpc>
            </a:pPr>
            <a:r>
              <a:rPr lang="en-US" dirty="0"/>
              <a:t>User-Friendly </a:t>
            </a:r>
            <a:r>
              <a:rPr lang="en-US" dirty="0" smtClean="0"/>
              <a:t>Interface</a:t>
            </a:r>
          </a:p>
          <a:p>
            <a:pPr>
              <a:lnSpc>
                <a:spcPct val="150000"/>
              </a:lnSpc>
            </a:pPr>
            <a:r>
              <a:rPr lang="en-US" dirty="0"/>
              <a:t>Scalability and </a:t>
            </a:r>
            <a:r>
              <a:rPr lang="en-US" dirty="0" smtClean="0"/>
              <a:t>Extensibility</a:t>
            </a:r>
          </a:p>
          <a:p>
            <a:pPr>
              <a:lnSpc>
                <a:spcPct val="150000"/>
              </a:lnSpc>
            </a:pPr>
            <a:r>
              <a:rPr lang="en-US" dirty="0"/>
              <a:t>Data Integrity and </a:t>
            </a:r>
            <a:r>
              <a:rPr lang="en-US" dirty="0" smtClean="0"/>
              <a:t>Security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Platform Independent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Concurrency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Limited user Interface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Limited functionality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7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80520"/>
            <a:ext cx="9421814" cy="921256"/>
          </a:xfrm>
        </p:spPr>
        <p:txBody>
          <a:bodyPr anchor="ctr" anchorCtr="1"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Future Scope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1320339"/>
            <a:ext cx="9458325" cy="47089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Enhanced 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User Interface: Develop a visually appealing and user-friendly GUI or mobile app, making the system more accessible and intuitive. </a:t>
            </a:r>
            <a:endParaRPr lang="en-US" altLang="zh-CN" sz="2000" dirty="0" smtClean="0">
              <a:latin typeface="+mj-lt"/>
              <a:ea typeface="等线" charset="0"/>
              <a:cs typeface="Calibri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Advanced 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Features: Implement features like reservations, recommendations, fines, event management, and integrations with other systems to provide a comprehensive library experience. </a:t>
            </a:r>
            <a:endParaRPr lang="en-US" altLang="zh-CN" sz="2000" dirty="0" smtClean="0">
              <a:latin typeface="+mj-lt"/>
              <a:ea typeface="等线" charset="0"/>
              <a:cs typeface="Calibri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 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Improved Security: Enhance security by using role-based access control, encrypting sensitive data, and conducting regular security audits to protect against unauthorized access. </a:t>
            </a: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Scalability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: Improve scalability by deploying the system on a cloud platform and optimizing database queries to handle large datasets efficiently. </a:t>
            </a:r>
            <a:endParaRPr lang="en-US" altLang="zh-CN" sz="2000" dirty="0" smtClean="0">
              <a:latin typeface="+mj-lt"/>
              <a:ea typeface="等线" charset="0"/>
              <a:cs typeface="Calibri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2000" dirty="0" smtClean="0">
                <a:latin typeface="+mj-lt"/>
                <a:ea typeface="等线" charset="0"/>
                <a:cs typeface="Calibri" charset="0"/>
              </a:rPr>
              <a:t>Integration 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with Emerging Technologies: Explore the potential of AI and </a:t>
            </a:r>
            <a:r>
              <a:rPr lang="en-US" altLang="zh-CN" sz="2000" dirty="0" err="1">
                <a:latin typeface="+mj-lt"/>
                <a:ea typeface="等线" charset="0"/>
                <a:cs typeface="Calibri" charset="0"/>
              </a:rPr>
              <a:t>IoT</a:t>
            </a:r>
            <a:r>
              <a:rPr lang="en-US" altLang="zh-CN" sz="2000" dirty="0">
                <a:latin typeface="+mj-lt"/>
                <a:ea typeface="等线" charset="0"/>
                <a:cs typeface="Calibri" charset="0"/>
              </a:rPr>
              <a:t> to automate tasks, improve search functionality, and enhance user interactions.</a:t>
            </a:r>
            <a:endParaRPr lang="en-US" altLang="zh-CN" sz="2000" dirty="0" smtClean="0">
              <a:latin typeface="+mj-lt"/>
              <a:ea typeface="等线" charset="0"/>
              <a:cs typeface="Calibri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06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 anchorCtr="1"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8" y="192331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890000" y="192331"/>
            <a:ext cx="3067300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691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Custom 1">
      <a:majorFont>
        <a:latin typeface="Bahnschrift Condensed"/>
        <a:ea typeface=""/>
        <a:cs typeface=""/>
      </a:majorFont>
      <a:minorFont>
        <a:latin typeface="Bahnschrift Condensed"/>
        <a:ea typeface=""/>
        <a:cs typeface="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332</TotalTime>
  <Words>568</Words>
  <Application>Microsoft Office PowerPoint</Application>
  <PresentationFormat>Custom</PresentationFormat>
  <Paragraphs>62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Equity</vt:lpstr>
      <vt:lpstr>Library Portal</vt:lpstr>
      <vt:lpstr>Project Outline :-</vt:lpstr>
      <vt:lpstr>Purpose of the Project</vt:lpstr>
      <vt:lpstr>Class Diagram</vt:lpstr>
      <vt:lpstr>Use Case Diagram</vt:lpstr>
      <vt:lpstr>Data Structures and Classes</vt:lpstr>
      <vt:lpstr>Tools Used</vt:lpstr>
      <vt:lpstr>Merits &amp; Demerits</vt:lpstr>
      <vt:lpstr>Future Scope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creator>krunal</dc:creator>
  <cp:lastModifiedBy>vip</cp:lastModifiedBy>
  <cp:revision>32</cp:revision>
  <cp:lastPrinted>2012-08-15T21:38:02Z</cp:lastPrinted>
  <dcterms:created xsi:type="dcterms:W3CDTF">2024-08-20T14:17:22Z</dcterms:created>
  <dcterms:modified xsi:type="dcterms:W3CDTF">2024-09-01T09:12:52Z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